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0" r:id="rId2"/>
  </p:sldMasterIdLst>
  <p:sldIdLst>
    <p:sldId id="258" r:id="rId3"/>
    <p:sldId id="273" r:id="rId4"/>
    <p:sldId id="262" r:id="rId5"/>
    <p:sldId id="264" r:id="rId6"/>
    <p:sldId id="266" r:id="rId7"/>
    <p:sldId id="268" r:id="rId8"/>
    <p:sldId id="270" r:id="rId9"/>
    <p:sldId id="275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987" autoAdjust="0"/>
    <p:restoredTop sz="94660"/>
  </p:normalViewPr>
  <p:slideViewPr>
    <p:cSldViewPr snapToGrid="0">
      <p:cViewPr varScale="1">
        <p:scale>
          <a:sx n="87" d="100"/>
          <a:sy n="87" d="100"/>
        </p:scale>
        <p:origin x="480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theme" Target="theme/theme1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viewProps" Target="viewProps.xml"/><Relationship Id="rId2" Type="http://schemas.openxmlformats.org/officeDocument/2006/relationships/slideMaster" Target="slideMasters/slideMaster2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presProps" Target="presProps.xml"/><Relationship Id="rId5" Type="http://schemas.openxmlformats.org/officeDocument/2006/relationships/slide" Target="slides/slide3.xml"/><Relationship Id="rId10" Type="http://schemas.openxmlformats.org/officeDocument/2006/relationships/slide" Target="slides/slide8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61FB52-BEB2-0712-E2C7-F56877C6D4A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D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DBF8EA9-D732-10EA-B944-86BA45EC3DB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D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A4B5FA2-E7EC-7EDD-BE39-4D6A71F9C4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3E2C3A-CFF3-4BCE-ADA8-00094883953D}" type="datetimeFigureOut">
              <a:rPr lang="en-ID" smtClean="0"/>
              <a:t>11/06/2026</a:t>
            </a:fld>
            <a:endParaRPr lang="en-ID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F1F81C2-548B-A0D3-E6D3-417F416F6C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D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DD51DFA-60D3-E3F0-3F8A-07B4161B60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663DBE-4774-4B1D-B38F-C1C6ED3BC931}" type="slidenum">
              <a:rPr lang="en-ID" smtClean="0"/>
              <a:t>‹#›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30019857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B5D7C2-BAC7-8E61-1BB7-940DA9F2AE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D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0929FA-9504-E0B1-FFCB-AE2E2AD945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D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E54F59-3017-A127-EA7B-55E8C3F396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3E2C3A-CFF3-4BCE-ADA8-00094883953D}" type="datetimeFigureOut">
              <a:rPr lang="en-ID" smtClean="0"/>
              <a:t>11/06/2026</a:t>
            </a:fld>
            <a:endParaRPr lang="en-ID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7920A06-0BD0-5E16-A1C8-FDB7F60B2F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D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51E3238-F787-6132-6C66-7AF9845DBC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663DBE-4774-4B1D-B38F-C1C6ED3BC931}" type="slidenum">
              <a:rPr lang="en-ID" smtClean="0"/>
              <a:t>‹#›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18370323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8CC04A-A96E-DD5E-FDB6-4A856D9897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D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8B7FF53-BFCC-F750-E094-25712B993AF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247A487-9223-FFBA-2B0D-FA34F4710E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3E2C3A-CFF3-4BCE-ADA8-00094883953D}" type="datetimeFigureOut">
              <a:rPr lang="en-ID" smtClean="0"/>
              <a:t>11/06/2026</a:t>
            </a:fld>
            <a:endParaRPr lang="en-ID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FB50C9E-5450-6DCE-A5EA-02D2DCFDFE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D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D7CB41A-E572-0B27-F381-54E20DD593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663DBE-4774-4B1D-B38F-C1C6ED3BC931}" type="slidenum">
              <a:rPr lang="en-ID" smtClean="0"/>
              <a:t>‹#›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365666378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C38BCC-B42B-4C50-4863-018684BB3E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D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3B139A-2BB7-4719-266B-450AC4EA5B4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D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5A37B0F-6BED-A4C4-1F51-CE8AB96A26C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D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C211FC2-8BAD-3F84-01AD-52112A5055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3E2C3A-CFF3-4BCE-ADA8-00094883953D}" type="datetimeFigureOut">
              <a:rPr lang="en-ID" smtClean="0"/>
              <a:t>11/06/2026</a:t>
            </a:fld>
            <a:endParaRPr lang="en-ID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398C963-50C9-AE93-B25F-DD2FDD3EB2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D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B917637-B1EB-0C16-DD65-2104B24F68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663DBE-4774-4B1D-B38F-C1C6ED3BC931}" type="slidenum">
              <a:rPr lang="en-ID" smtClean="0"/>
              <a:t>‹#›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33717264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69B0BB-CFBE-CCE7-5778-D02F7C03EE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D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51F558F-5B82-A068-5D1A-601731ADC83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149C904-6E32-AD13-DBD2-16DE7566F67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D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56D8E03-855E-2E09-ACE8-799DA52F94B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F7EC4F1-6660-91A8-7F16-E7346FB19E4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D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BD7B7B4-C1BB-10C9-FFB7-F6EFE9B5A0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3E2C3A-CFF3-4BCE-ADA8-00094883953D}" type="datetimeFigureOut">
              <a:rPr lang="en-ID" smtClean="0"/>
              <a:t>11/06/2026</a:t>
            </a:fld>
            <a:endParaRPr lang="en-ID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7F89130-34B4-2B75-B4D5-533C877082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D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F931A1A-5C3B-BAC4-4CB3-A977F5B759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663DBE-4774-4B1D-B38F-C1C6ED3BC931}" type="slidenum">
              <a:rPr lang="en-ID" smtClean="0"/>
              <a:t>‹#›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184618052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206AB7-59FD-61A8-756C-71B2F5BEF5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D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EF0CE76-80FB-2E7F-0BE5-CFE1F413BF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3E2C3A-CFF3-4BCE-ADA8-00094883953D}" type="datetimeFigureOut">
              <a:rPr lang="en-ID" smtClean="0"/>
              <a:t>11/06/2026</a:t>
            </a:fld>
            <a:endParaRPr lang="en-ID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986FE06-D7AA-45B7-44F3-F14170B454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D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9911153-EA2C-F5D4-1851-F1F7563D89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663DBE-4774-4B1D-B38F-C1C6ED3BC931}" type="slidenum">
              <a:rPr lang="en-ID" smtClean="0"/>
              <a:t>‹#›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74639765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B472DFC-B80F-2C14-9D7E-C7AE0E35BD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3E2C3A-CFF3-4BCE-ADA8-00094883953D}" type="datetimeFigureOut">
              <a:rPr lang="en-ID" smtClean="0"/>
              <a:t>11/06/2026</a:t>
            </a:fld>
            <a:endParaRPr lang="en-ID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045D1C9-7737-0ACD-05B6-A6809B5026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D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E3C3F6D-24B5-5FA1-9E48-617447A626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663DBE-4774-4B1D-B38F-C1C6ED3BC931}" type="slidenum">
              <a:rPr lang="en-ID" smtClean="0"/>
              <a:t>‹#›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143793120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8CC5DB-6203-CE45-D058-E43350F1F3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D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C21364-E9A5-9EAB-A5E1-3C8649F2B47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D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85C74FA-3414-6C2A-9615-D20DD6D18B7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CD5E6C5-734D-E5B7-B762-01F05E5FBC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3E2C3A-CFF3-4BCE-ADA8-00094883953D}" type="datetimeFigureOut">
              <a:rPr lang="en-ID" smtClean="0"/>
              <a:t>11/06/2026</a:t>
            </a:fld>
            <a:endParaRPr lang="en-ID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A8B815D-22D3-B4F8-EC40-9F1B0382CC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D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2BCB1DC-58F5-CC3A-4ADC-1A1A0A5961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663DBE-4774-4B1D-B38F-C1C6ED3BC931}" type="slidenum">
              <a:rPr lang="en-ID" smtClean="0"/>
              <a:t>‹#›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224869992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7886B2-39B7-64FB-05B8-3DC236E04F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D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D9DBAD7-1358-6A68-AC6B-6BF01E2A7A8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D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5E1ADAD-0DE3-77FE-65DB-FF5A0AD2F83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C88E4E1-A725-1022-A0AD-83143D1650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3E2C3A-CFF3-4BCE-ADA8-00094883953D}" type="datetimeFigureOut">
              <a:rPr lang="en-ID" smtClean="0"/>
              <a:t>11/06/2026</a:t>
            </a:fld>
            <a:endParaRPr lang="en-ID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4E4F279-623F-7F5B-F7F6-EA9EF8F32A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D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950FEF2-84DB-B56A-41F6-76ADA4DEF0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663DBE-4774-4B1D-B38F-C1C6ED3BC931}" type="slidenum">
              <a:rPr lang="en-ID" smtClean="0"/>
              <a:t>‹#›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132699949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F5768E-BA8A-B0FB-7320-B9AF47B82D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D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D411B70-4C43-D66F-79E0-3DA91C44C11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D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9CAC17C-25E0-106F-FC8F-36234D5D18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3E2C3A-CFF3-4BCE-ADA8-00094883953D}" type="datetimeFigureOut">
              <a:rPr lang="en-ID" smtClean="0"/>
              <a:t>11/06/2026</a:t>
            </a:fld>
            <a:endParaRPr lang="en-ID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5E8DA44-EEBA-A052-C1CD-ACB7A7FFA1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D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A993778-4011-F950-C8DA-FEA45871C6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663DBE-4774-4B1D-B38F-C1C6ED3BC931}" type="slidenum">
              <a:rPr lang="en-ID" smtClean="0"/>
              <a:t>‹#›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296886270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2BB516C-45BB-BA4A-5357-837F7F457E5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D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314BC2B-5A7D-1539-0C3F-CDA6B87B6DF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D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2110929-DE96-C00B-F445-6524B2369C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3E2C3A-CFF3-4BCE-ADA8-00094883953D}" type="datetimeFigureOut">
              <a:rPr lang="en-ID" smtClean="0"/>
              <a:t>11/06/2026</a:t>
            </a:fld>
            <a:endParaRPr lang="en-ID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1A3DFC3-2CD3-F0BC-B958-86F581F71E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D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8CC8DF0-E4B5-0556-A058-F21A69C530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663DBE-4774-4B1D-B38F-C1C6ED3BC931}" type="slidenum">
              <a:rPr lang="en-ID" smtClean="0"/>
              <a:t>‹#›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400969796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61FB52-BEB2-0712-E2C7-F56877C6D4A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D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DBF8EA9-D732-10EA-B944-86BA45EC3DB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D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A4B5FA2-E7EC-7EDD-BE39-4D6A71F9C4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3E2C3A-CFF3-4BCE-ADA8-00094883953D}" type="datetimeFigureOut">
              <a:rPr lang="en-ID" smtClean="0"/>
              <a:t>11/06/2026</a:t>
            </a:fld>
            <a:endParaRPr lang="en-ID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F1F81C2-548B-A0D3-E6D3-417F416F6C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D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DD51DFA-60D3-E3F0-3F8A-07B4161B60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663DBE-4774-4B1D-B38F-C1C6ED3BC931}" type="slidenum">
              <a:rPr lang="en-ID" smtClean="0"/>
              <a:t>‹#›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30019857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B5D7C2-BAC7-8E61-1BB7-940DA9F2AE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D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0929FA-9504-E0B1-FFCB-AE2E2AD945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D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E54F59-3017-A127-EA7B-55E8C3F396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3E2C3A-CFF3-4BCE-ADA8-00094883953D}" type="datetimeFigureOut">
              <a:rPr lang="en-ID" smtClean="0"/>
              <a:t>11/06/2026</a:t>
            </a:fld>
            <a:endParaRPr lang="en-ID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7920A06-0BD0-5E16-A1C8-FDB7F60B2F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D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51E3238-F787-6132-6C66-7AF9845DBC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663DBE-4774-4B1D-B38F-C1C6ED3BC931}" type="slidenum">
              <a:rPr lang="en-ID" smtClean="0"/>
              <a:t>‹#›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183703237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8CC04A-A96E-DD5E-FDB6-4A856D9897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D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8B7FF53-BFCC-F750-E094-25712B993AF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247A487-9223-FFBA-2B0D-FA34F4710E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3E2C3A-CFF3-4BCE-ADA8-00094883953D}" type="datetimeFigureOut">
              <a:rPr lang="en-ID" smtClean="0"/>
              <a:t>11/06/2026</a:t>
            </a:fld>
            <a:endParaRPr lang="en-ID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FB50C9E-5450-6DCE-A5EA-02D2DCFDFE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D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D7CB41A-E572-0B27-F381-54E20DD593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663DBE-4774-4B1D-B38F-C1C6ED3BC931}" type="slidenum">
              <a:rPr lang="en-ID" smtClean="0"/>
              <a:t>‹#›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365666378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C38BCC-B42B-4C50-4863-018684BB3E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D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3B139A-2BB7-4719-266B-450AC4EA5B4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D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5A37B0F-6BED-A4C4-1F51-CE8AB96A26C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D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C211FC2-8BAD-3F84-01AD-52112A5055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3E2C3A-CFF3-4BCE-ADA8-00094883953D}" type="datetimeFigureOut">
              <a:rPr lang="en-ID" smtClean="0"/>
              <a:t>11/06/2026</a:t>
            </a:fld>
            <a:endParaRPr lang="en-ID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398C963-50C9-AE93-B25F-DD2FDD3EB2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D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B917637-B1EB-0C16-DD65-2104B24F68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663DBE-4774-4B1D-B38F-C1C6ED3BC931}" type="slidenum">
              <a:rPr lang="en-ID" smtClean="0"/>
              <a:t>‹#›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337172646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69B0BB-CFBE-CCE7-5778-D02F7C03EE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D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51F558F-5B82-A068-5D1A-601731ADC83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149C904-6E32-AD13-DBD2-16DE7566F67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D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56D8E03-855E-2E09-ACE8-799DA52F94B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F7EC4F1-6660-91A8-7F16-E7346FB19E4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D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BD7B7B4-C1BB-10C9-FFB7-F6EFE9B5A0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3E2C3A-CFF3-4BCE-ADA8-00094883953D}" type="datetimeFigureOut">
              <a:rPr lang="en-ID" smtClean="0"/>
              <a:t>11/06/2026</a:t>
            </a:fld>
            <a:endParaRPr lang="en-ID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7F89130-34B4-2B75-B4D5-533C877082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D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F931A1A-5C3B-BAC4-4CB3-A977F5B759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663DBE-4774-4B1D-B38F-C1C6ED3BC931}" type="slidenum">
              <a:rPr lang="en-ID" smtClean="0"/>
              <a:t>‹#›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184618052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206AB7-59FD-61A8-756C-71B2F5BEF5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D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EF0CE76-80FB-2E7F-0BE5-CFE1F413BF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3E2C3A-CFF3-4BCE-ADA8-00094883953D}" type="datetimeFigureOut">
              <a:rPr lang="en-ID" smtClean="0"/>
              <a:t>11/06/2026</a:t>
            </a:fld>
            <a:endParaRPr lang="en-ID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986FE06-D7AA-45B7-44F3-F14170B454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D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9911153-EA2C-F5D4-1851-F1F7563D89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663DBE-4774-4B1D-B38F-C1C6ED3BC931}" type="slidenum">
              <a:rPr lang="en-ID" smtClean="0"/>
              <a:t>‹#›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74639765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B472DFC-B80F-2C14-9D7E-C7AE0E35BD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3E2C3A-CFF3-4BCE-ADA8-00094883953D}" type="datetimeFigureOut">
              <a:rPr lang="en-ID" smtClean="0"/>
              <a:t>11/06/2026</a:t>
            </a:fld>
            <a:endParaRPr lang="en-ID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045D1C9-7737-0ACD-05B6-A6809B5026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D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E3C3F6D-24B5-5FA1-9E48-617447A626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663DBE-4774-4B1D-B38F-C1C6ED3BC931}" type="slidenum">
              <a:rPr lang="en-ID" smtClean="0"/>
              <a:t>‹#›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1437931209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8CC5DB-6203-CE45-D058-E43350F1F3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D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C21364-E9A5-9EAB-A5E1-3C8649F2B47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D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85C74FA-3414-6C2A-9615-D20DD6D18B7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CD5E6C5-734D-E5B7-B762-01F05E5FBC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3E2C3A-CFF3-4BCE-ADA8-00094883953D}" type="datetimeFigureOut">
              <a:rPr lang="en-ID" smtClean="0"/>
              <a:t>11/06/2026</a:t>
            </a:fld>
            <a:endParaRPr lang="en-ID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A8B815D-22D3-B4F8-EC40-9F1B0382CC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D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2BCB1DC-58F5-CC3A-4ADC-1A1A0A5961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663DBE-4774-4B1D-B38F-C1C6ED3BC931}" type="slidenum">
              <a:rPr lang="en-ID" smtClean="0"/>
              <a:t>‹#›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224869992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7886B2-39B7-64FB-05B8-3DC236E04F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D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D9DBAD7-1358-6A68-AC6B-6BF01E2A7A8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D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5E1ADAD-0DE3-77FE-65DB-FF5A0AD2F83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C88E4E1-A725-1022-A0AD-83143D1650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3E2C3A-CFF3-4BCE-ADA8-00094883953D}" type="datetimeFigureOut">
              <a:rPr lang="en-ID" smtClean="0"/>
              <a:t>11/06/2026</a:t>
            </a:fld>
            <a:endParaRPr lang="en-ID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4E4F279-623F-7F5B-F7F6-EA9EF8F32A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D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950FEF2-84DB-B56A-41F6-76ADA4DEF0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663DBE-4774-4B1D-B38F-C1C6ED3BC931}" type="slidenum">
              <a:rPr lang="en-ID" smtClean="0"/>
              <a:t>‹#›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1326999498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F5768E-BA8A-B0FB-7320-B9AF47B82D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D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D411B70-4C43-D66F-79E0-3DA91C44C11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D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9CAC17C-25E0-106F-FC8F-36234D5D18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3E2C3A-CFF3-4BCE-ADA8-00094883953D}" type="datetimeFigureOut">
              <a:rPr lang="en-ID" smtClean="0"/>
              <a:t>11/06/2026</a:t>
            </a:fld>
            <a:endParaRPr lang="en-ID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5E8DA44-EEBA-A052-C1CD-ACB7A7FFA1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D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A993778-4011-F950-C8DA-FEA45871C6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663DBE-4774-4B1D-B38F-C1C6ED3BC931}" type="slidenum">
              <a:rPr lang="en-ID" smtClean="0"/>
              <a:t>‹#›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2968862706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2BB516C-45BB-BA4A-5357-837F7F457E5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D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314BC2B-5A7D-1539-0C3F-CDA6B87B6DF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D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2110929-DE96-C00B-F445-6524B2369C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3E2C3A-CFF3-4BCE-ADA8-00094883953D}" type="datetimeFigureOut">
              <a:rPr lang="en-ID" smtClean="0"/>
              <a:t>11/06/2026</a:t>
            </a:fld>
            <a:endParaRPr lang="en-ID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1A3DFC3-2CD3-F0BC-B958-86F581F71E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D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8CC8DF0-E4B5-0556-A058-F21A69C530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663DBE-4774-4B1D-B38F-C1C6ED3BC931}" type="slidenum">
              <a:rPr lang="en-ID" smtClean="0"/>
              <a:t>‹#›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400969796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52D4032-9041-667C-10AA-DDE9E1841E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D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8BE936C-DEA4-3521-8B0E-1D2208B4E7C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D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3D9C789-FB04-16F3-F89F-F2663C2A1DC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F3E2C3A-CFF3-4BCE-ADA8-00094883953D}" type="datetimeFigureOut">
              <a:rPr lang="en-ID" smtClean="0"/>
              <a:t>11/06/2026</a:t>
            </a:fld>
            <a:endParaRPr lang="en-ID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72BEA96-B363-37E2-8CBF-2CF2CABCD7F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D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81BE08-10B5-9E2E-F848-D21967430F9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0663DBE-4774-4B1D-B38F-C1C6ED3BC931}" type="slidenum">
              <a:rPr lang="en-ID" smtClean="0"/>
              <a:t>‹#›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179020338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52D4032-9041-667C-10AA-DDE9E1841E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D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8BE936C-DEA4-3521-8B0E-1D2208B4E7C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D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3D9C789-FB04-16F3-F89F-F2663C2A1DC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F3E2C3A-CFF3-4BCE-ADA8-00094883953D}" type="datetimeFigureOut">
              <a:rPr lang="en-ID" smtClean="0"/>
              <a:t>11/06/2026</a:t>
            </a:fld>
            <a:endParaRPr lang="en-ID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72BEA96-B363-37E2-8CBF-2CF2CABCD7F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D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81BE08-10B5-9E2E-F848-D21967430F9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0663DBE-4774-4B1D-B38F-C1C6ED3BC931}" type="slidenum">
              <a:rPr lang="en-ID" smtClean="0"/>
              <a:t>‹#›</a:t>
            </a:fld>
            <a:endParaRPr lang="en-ID"/>
          </a:p>
        </p:txBody>
      </p:sp>
      <p:sp>
        <p:nvSpPr>
          <p:cNvPr id="900" name="Left Accent Bar"/>
          <p:cNvSpPr/>
          <p:nvPr/>
        </p:nvSpPr>
        <p:spPr>
          <a:xfrm>
            <a:off x="0" y="0"/>
            <a:ext cx="101600" cy="6858000"/>
          </a:xfrm>
          <a:prstGeom prst="rect">
            <a:avLst/>
          </a:prstGeom>
          <a:solidFill>
            <a:srgbClr val="31708E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020338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rgbClr val="2F4858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rgbClr val="1F2933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6734B1-DCC0-5FD2-A09F-A03917D9B78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algn="ctr"/>
            <a:r>
              <a:rPr lang="en-US" sz="3200" b="1" dirty="0"/>
              <a:t>Learning to Anticipate</a:t>
            </a:r>
          </a:p>
          <a:p>
            <a:pPr algn="ctr"/>
            <a:r>
              <a:rPr lang="en-US" sz="2000" dirty="0"/>
              <a:t>LSTM Hand-Trajectory Prediction for Latency Compensation in Vision-Based Robot Teleoperation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4044B92-8B1E-ED9B-6A63-CCC51AD465F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algn="ctr"/>
            <a:r>
              <a:rPr lang="en-US" sz="1600" dirty="0">
                <a:solidFill>
                  <a:schemeClr val="accent1"/>
                </a:solidFill>
              </a:rPr>
              <a:t>MediaPipe Hands + MoveIt Servo Pose Tracking on a 6-DOF Arm</a:t>
            </a:r>
          </a:p>
          <a:p>
            <a:pPr algn="ctr"/>
            <a:r>
              <a:rPr lang="en-US" sz="1400" dirty="0"/>
              <a:t>Machine Learning — Final Project, NTNU · June 2026</a:t>
            </a:r>
          </a:p>
        </p:txBody>
      </p:sp>
    </p:spTree>
    <p:extLst>
      <p:ext uri="{BB962C8B-B14F-4D97-AF65-F5344CB8AC3E}">
        <p14:creationId xmlns:p14="http://schemas.microsoft.com/office/powerpoint/2010/main" val="56925230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7EF2A6-A881-607E-15C6-23AC558F24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200" b="1" dirty="0"/>
              <a:t>Motivation: Smoothing Trades Jitter for Lag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E8FCC7-0141-1B7F-EB85-F8B448C202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anchor="ctr"/>
          <a:lstStyle/>
          <a:p>
            <a:pPr marL="457200" indent="-457200">
              <a:lnSpc>
                <a:spcPct val="100000"/>
              </a:lnSpc>
              <a:spcBef>
                <a:spcPts val="1600"/>
              </a:spcBef>
              <a:buFont typeface="Arial"/>
              <a:buChar char="•"/>
            </a:pPr>
            <a:r>
              <a:rPr lang="en-US" sz="1800" dirty="0"/>
              <a:t>Vision-based teleoperation: a single webcam tracks the operator’s hand; a 6-DOF arm follows in real time</a:t>
            </a:r>
          </a:p>
          <a:p>
            <a:pPr marL="457200" indent="-457200">
              <a:lnSpc>
                <a:spcPct val="100000"/>
              </a:lnSpc>
              <a:spcBef>
                <a:spcPts val="1600"/>
              </a:spcBef>
              <a:buFont typeface="Arial"/>
              <a:buChar char="•"/>
            </a:pPr>
            <a:r>
              <a:rPr lang="en-US" sz="1800" dirty="0"/>
              <a:t>The raw hand position is noisy — landmark jitter, camera noise, and a hand-size-based depth estimate</a:t>
            </a:r>
          </a:p>
          <a:p>
            <a:pPr marL="457200" indent="-457200">
              <a:lnSpc>
                <a:spcPct val="100000"/>
              </a:lnSpc>
              <a:spcBef>
                <a:spcPts val="1600"/>
              </a:spcBef>
              <a:buFont typeface="Arial"/>
              <a:buChar char="•"/>
            </a:pPr>
            <a:r>
              <a:rPr lang="en-US" sz="1800" dirty="0"/>
              <a:t>The deployed pipeline smooths with an EMA (α = 0.3): group delay ≈ 2.3 frames ≈ 75 ms at 30 Hz</a:t>
            </a:r>
          </a:p>
          <a:p>
            <a:pPr marL="457200" indent="-457200">
              <a:lnSpc>
                <a:spcPct val="100000"/>
              </a:lnSpc>
              <a:spcBef>
                <a:spcPts val="1600"/>
              </a:spcBef>
              <a:buFont typeface="Arial"/>
              <a:buChar char="•"/>
            </a:pPr>
            <a:r>
              <a:rPr lang="en-US" sz="1800" dirty="0"/>
              <a:t>Consequence: the robot is always commanded toward where the hand </a:t>
            </a:r>
            <a:r>
              <a:rPr lang="en-US" sz="1800" i="1" dirty="0"/>
              <a:t>was</a:t>
            </a:r>
            <a:r>
              <a:rPr lang="en-US" sz="1800" dirty="0"/>
              <a:t>, never where it is</a:t>
            </a:r>
          </a:p>
          <a:p>
            <a:pPr marL="457200" indent="-457200">
              <a:lnSpc>
                <a:spcPct val="100000"/>
              </a:lnSpc>
              <a:spcBef>
                <a:spcPts val="1600"/>
              </a:spcBef>
              <a:buFont typeface="Arial"/>
              <a:buChar char="•"/>
            </a:pPr>
            <a:r>
              <a:rPr lang="en-US" sz="1800" b="1" dirty="0">
                <a:solidFill>
                  <a:schemeClr val="accent1"/>
                </a:solidFill>
              </a:rPr>
              <a:t>Idea: treat lag as a forecasting problem — predict the hand ~100 ms ahead, turning lag into lead</a:t>
            </a:r>
          </a:p>
        </p:txBody>
      </p:sp>
    </p:spTree>
    <p:extLst>
      <p:ext uri="{BB962C8B-B14F-4D97-AF65-F5344CB8AC3E}">
        <p14:creationId xmlns:p14="http://schemas.microsoft.com/office/powerpoint/2010/main" val="64479614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8E532A-60A7-AD4A-6098-F44DCE15AE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200" b="1" dirty="0"/>
              <a:t>System Architecture: Camera to Robot</a:t>
            </a:r>
          </a:p>
        </p:txBody>
      </p:sp>
      <p:sp>
        <p:nvSpPr>
          <p:cNvPr id="101" name="Box 101"/>
          <p:cNvSpPr/>
          <p:nvPr/>
        </p:nvSpPr>
        <p:spPr>
          <a:xfrm>
            <a:off x="635000" y="2349500"/>
            <a:ext cx="1524000" cy="1397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9AA5B1"/>
            </a:solidFill>
          </a:ln>
        </p:spPr>
        <p:txBody>
          <a:bodyPr lIns="36000" tIns="36000" rIns="36000" bIns="36000" anchor="ctr"/>
          <a:lstStyle/>
          <a:p>
            <a:pPr algn="ctr"/>
            <a:r>
              <a:rPr lang="en-US" sz="1500" b="1" dirty="0">
                <a:solidFill>
                  <a:srgbClr val="1F2933"/>
                </a:solidFill>
              </a:rPr>
              <a:t>Webcam</a:t>
            </a:r>
          </a:p>
          <a:p>
            <a:pPr algn="ctr"/>
            <a:r>
              <a:rPr lang="en-US" sz="1400" dirty="0">
                <a:solidFill>
                  <a:srgbClr val="1F2933"/>
                </a:solidFill>
              </a:rPr>
              <a:t>30 Hz frames</a:t>
            </a:r>
          </a:p>
        </p:txBody>
      </p:sp>
      <p:sp>
        <p:nvSpPr>
          <p:cNvPr id="102" name="Arrow 102"/>
          <p:cNvSpPr/>
          <p:nvPr/>
        </p:nvSpPr>
        <p:spPr>
          <a:xfrm>
            <a:off x="2184400" y="2908300"/>
            <a:ext cx="304800" cy="279400"/>
          </a:xfrm>
          <a:prstGeom prst="rightArrow">
            <a:avLst/>
          </a:prstGeom>
          <a:solidFill>
            <a:srgbClr val="9AA5B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03" name="Box 103"/>
          <p:cNvSpPr/>
          <p:nvPr/>
        </p:nvSpPr>
        <p:spPr>
          <a:xfrm>
            <a:off x="2514600" y="2349500"/>
            <a:ext cx="1524000" cy="1397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9AA5B1"/>
            </a:solidFill>
          </a:ln>
        </p:spPr>
        <p:txBody>
          <a:bodyPr lIns="36000" tIns="36000" rIns="36000" bIns="36000" anchor="ctr"/>
          <a:lstStyle/>
          <a:p>
            <a:pPr algn="ctr"/>
            <a:r>
              <a:rPr lang="en-US" sz="1500" b="1" dirty="0">
                <a:solidFill>
                  <a:srgbClr val="1F2933"/>
                </a:solidFill>
              </a:rPr>
              <a:t>MediaPipe Hands</a:t>
            </a:r>
          </a:p>
          <a:p>
            <a:pPr algn="ctr"/>
            <a:r>
              <a:rPr lang="en-US" sz="1400" dirty="0">
                <a:solidFill>
                  <a:srgbClr val="1F2933"/>
                </a:solidFill>
              </a:rPr>
              <a:t>21 landmarks on CPU</a:t>
            </a:r>
          </a:p>
        </p:txBody>
      </p:sp>
      <p:sp>
        <p:nvSpPr>
          <p:cNvPr id="104" name="Arrow 104"/>
          <p:cNvSpPr/>
          <p:nvPr/>
        </p:nvSpPr>
        <p:spPr>
          <a:xfrm>
            <a:off x="4064000" y="2908300"/>
            <a:ext cx="304800" cy="279400"/>
          </a:xfrm>
          <a:prstGeom prst="rightArrow">
            <a:avLst/>
          </a:prstGeom>
          <a:solidFill>
            <a:srgbClr val="9AA5B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05" name="Box 105"/>
          <p:cNvSpPr/>
          <p:nvPr/>
        </p:nvSpPr>
        <p:spPr>
          <a:xfrm>
            <a:off x="4394200" y="2349500"/>
            <a:ext cx="1524000" cy="1397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9AA5B1"/>
            </a:solidFill>
          </a:ln>
        </p:spPr>
        <p:txBody>
          <a:bodyPr lIns="36000" tIns="36000" rIns="36000" bIns="36000" anchor="ctr"/>
          <a:lstStyle/>
          <a:p>
            <a:pPr algn="ctr"/>
            <a:r>
              <a:rPr lang="en-US" sz="1500" b="1" dirty="0">
                <a:solidFill>
                  <a:srgbClr val="1F2933"/>
                </a:solidFill>
              </a:rPr>
              <a:t>Workspace Mapping</a:t>
            </a:r>
          </a:p>
          <a:p>
            <a:pPr algn="ctr"/>
            <a:r>
              <a:rPr lang="en-US" sz="1400" dirty="0">
                <a:solidFill>
                  <a:srgbClr val="1F2933"/>
                </a:solidFill>
              </a:rPr>
              <a:t>raw 3-D target, 30 Hz</a:t>
            </a:r>
          </a:p>
        </p:txBody>
      </p:sp>
      <p:sp>
        <p:nvSpPr>
          <p:cNvPr id="106" name="Arrow 106"/>
          <p:cNvSpPr/>
          <p:nvPr/>
        </p:nvSpPr>
        <p:spPr>
          <a:xfrm>
            <a:off x="5943600" y="2908300"/>
            <a:ext cx="304800" cy="279400"/>
          </a:xfrm>
          <a:prstGeom prst="rightArrow">
            <a:avLst/>
          </a:prstGeom>
          <a:solidFill>
            <a:srgbClr val="9AA5B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07" name="Box 107"/>
          <p:cNvSpPr/>
          <p:nvPr/>
        </p:nvSpPr>
        <p:spPr>
          <a:xfrm>
            <a:off x="6273800" y="2349500"/>
            <a:ext cx="1524000" cy="1397000"/>
          </a:xfrm>
          <a:prstGeom prst="roundRect">
            <a:avLst>
              <a:gd name="adj" fmla="val 8000"/>
            </a:avLst>
          </a:prstGeom>
          <a:solidFill>
            <a:srgbClr val="31708E"/>
          </a:solidFill>
          <a:ln w="12700">
            <a:solidFill>
              <a:srgbClr val="2F4858"/>
            </a:solidFill>
          </a:ln>
        </p:spPr>
        <p:txBody>
          <a:bodyPr lIns="36000" tIns="36000" rIns="36000" bIns="36000" anchor="ctr"/>
          <a:lstStyle/>
          <a:p>
            <a:pPr algn="ctr"/>
            <a:r>
              <a:rPr lang="en-US" sz="1500" b="1" dirty="0">
                <a:solidFill>
                  <a:srgbClr val="FFFFFF"/>
                </a:solidFill>
              </a:rPr>
              <a:t>EMA → LSTM</a:t>
            </a:r>
          </a:p>
          <a:p>
            <a:pPr algn="ctr"/>
            <a:r>
              <a:rPr lang="en-US" sz="1400" dirty="0">
                <a:solidFill>
                  <a:srgbClr val="FFFFFF"/>
                </a:solidFill>
              </a:rPr>
              <a:t>smoothing / prediction</a:t>
            </a:r>
          </a:p>
        </p:txBody>
      </p:sp>
      <p:sp>
        <p:nvSpPr>
          <p:cNvPr id="108" name="Arrow 108"/>
          <p:cNvSpPr/>
          <p:nvPr/>
        </p:nvSpPr>
        <p:spPr>
          <a:xfrm>
            <a:off x="7823200" y="2908300"/>
            <a:ext cx="304800" cy="279400"/>
          </a:xfrm>
          <a:prstGeom prst="rightArrow">
            <a:avLst/>
          </a:prstGeom>
          <a:solidFill>
            <a:srgbClr val="9AA5B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09" name="Box 109"/>
          <p:cNvSpPr/>
          <p:nvPr/>
        </p:nvSpPr>
        <p:spPr>
          <a:xfrm>
            <a:off x="8153400" y="2349500"/>
            <a:ext cx="1524000" cy="1397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9AA5B1"/>
            </a:solidFill>
          </a:ln>
        </p:spPr>
        <p:txBody>
          <a:bodyPr lIns="36000" tIns="36000" rIns="36000" bIns="36000" anchor="ctr"/>
          <a:lstStyle/>
          <a:p>
            <a:pPr algn="ctr"/>
            <a:r>
              <a:rPr lang="en-US" sz="1500" b="1" dirty="0">
                <a:solidFill>
                  <a:srgbClr val="1F2933"/>
                </a:solidFill>
              </a:rPr>
              <a:t>MoveIt Servo</a:t>
            </a:r>
          </a:p>
          <a:p>
            <a:pPr algn="ctr"/>
            <a:r>
              <a:rPr lang="en-US" sz="1400" dirty="0">
                <a:solidFill>
                  <a:srgbClr val="1F2933"/>
                </a:solidFill>
              </a:rPr>
              <a:t>P-controller + diff. IK</a:t>
            </a:r>
          </a:p>
        </p:txBody>
      </p:sp>
      <p:sp>
        <p:nvSpPr>
          <p:cNvPr id="110" name="Arrow 110"/>
          <p:cNvSpPr/>
          <p:nvPr/>
        </p:nvSpPr>
        <p:spPr>
          <a:xfrm>
            <a:off x="9702800" y="2908300"/>
            <a:ext cx="304800" cy="279400"/>
          </a:xfrm>
          <a:prstGeom prst="rightArrow">
            <a:avLst/>
          </a:prstGeom>
          <a:solidFill>
            <a:srgbClr val="9AA5B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11" name="Box 111"/>
          <p:cNvSpPr/>
          <p:nvPr/>
        </p:nvSpPr>
        <p:spPr>
          <a:xfrm>
            <a:off x="10033000" y="2349500"/>
            <a:ext cx="1524000" cy="1397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9AA5B1"/>
            </a:solidFill>
          </a:ln>
        </p:spPr>
        <p:txBody>
          <a:bodyPr lIns="36000" tIns="36000" rIns="36000" bIns="36000" anchor="ctr"/>
          <a:lstStyle/>
          <a:p>
            <a:pPr algn="ctr"/>
            <a:r>
              <a:rPr lang="en-US" sz="1500" b="1" dirty="0">
                <a:solidFill>
                  <a:srgbClr val="1F2933"/>
                </a:solidFill>
              </a:rPr>
              <a:t>6-DOF Arm</a:t>
            </a:r>
          </a:p>
          <a:p>
            <a:pPr algn="ctr"/>
            <a:r>
              <a:rPr lang="en-US" sz="1400" dirty="0">
                <a:solidFill>
                  <a:srgbClr val="1F2933"/>
                </a:solidFill>
              </a:rPr>
              <a:t>ros2_control</a:t>
            </a:r>
          </a:p>
        </p:txBody>
      </p:sp>
      <p:sp>
        <p:nvSpPr>
          <p:cNvPr id="112" name="Badge"/>
          <p:cNvSpPr/>
          <p:nvPr/>
        </p:nvSpPr>
        <p:spPr>
          <a:xfrm>
            <a:off x="6019800" y="1968500"/>
            <a:ext cx="2032000" cy="3048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ctr"/>
            <a:r>
              <a:rPr lang="en-US" sz="1400" b="1" dirty="0">
                <a:solidFill>
                  <a:srgbClr val="C26D3F"/>
                </a:solidFill>
              </a:rPr>
              <a:t>THIS PROJECT</a:t>
            </a:r>
          </a:p>
        </p:txBody>
      </p:sp>
      <p:sp>
        <p:nvSpPr>
          <p:cNvPr id="113" name="Notes"/>
          <p:cNvSpPr/>
          <p:nvPr/>
        </p:nvSpPr>
        <p:spPr>
          <a:xfrm>
            <a:off x="635000" y="4191000"/>
            <a:ext cx="10922000" cy="2095500"/>
          </a:xfrm>
          <a:prstGeom prst="rect">
            <a:avLst/>
          </a:prstGeom>
          <a:noFill/>
          <a:ln>
            <a:noFill/>
          </a:ln>
        </p:spPr>
        <p:txBody>
          <a:bodyPr anchor="t"/>
          <a:lstStyle/>
          <a:p>
            <a:pPr marL="457200" indent="-457200">
              <a:spcBef>
                <a:spcPts val="600"/>
              </a:spcBef>
              <a:buFont typeface="Arial"/>
              <a:buChar char="•"/>
            </a:pPr>
            <a:r>
              <a:rPr lang="en-US" sz="1600" dirty="0">
                <a:solidFill>
                  <a:srgbClr val="1F2933"/>
                </a:solidFill>
              </a:rPr>
              <a:t>Feedback loop closes on joint encoders — the camera only generates the reference (not visual servoing)</a:t>
            </a:r>
          </a:p>
          <a:p>
            <a:pPr marL="457200" indent="-457200">
              <a:spcBef>
                <a:spcPts val="600"/>
              </a:spcBef>
              <a:buFont typeface="Arial"/>
              <a:buChar char="•"/>
            </a:pPr>
            <a:r>
              <a:rPr lang="en-US" sz="1600" dirty="0">
                <a:solidFill>
                  <a:srgbClr val="1F2933"/>
                </a:solidFill>
              </a:rPr>
              <a:t>Position-only pose tracking: forcing a fixed orientation drives a 6-DOF wrist into joint limits</a:t>
            </a:r>
          </a:p>
          <a:p>
            <a:pPr marL="457200" indent="-457200">
              <a:spcBef>
                <a:spcPts val="600"/>
              </a:spcBef>
              <a:buFont typeface="Arial"/>
              <a:buChar char="•"/>
            </a:pPr>
            <a:r>
              <a:rPr lang="en-US" sz="1600" dirty="0">
                <a:solidFill>
                  <a:srgbClr val="1F2933"/>
                </a:solidFill>
              </a:rPr>
              <a:t>Finger gestures drive the gripper and a “ready”-pose reset; both unchanged by this project</a:t>
            </a:r>
          </a:p>
          <a:p>
            <a:pPr marL="457200" indent="-457200">
              <a:spcBef>
                <a:spcPts val="600"/>
              </a:spcBef>
              <a:buFont typeface="Arial"/>
              <a:buChar char="•"/>
            </a:pPr>
            <a:r>
              <a:rPr lang="en-US" sz="1600" b="1" dirty="0">
                <a:solidFill>
                  <a:srgbClr val="31708E"/>
                </a:solidFill>
              </a:rPr>
              <a:t>The blue stage is replaced: an LSTM predicts the hand position ~100 ms ahead, with a runtime LSTM/EMA toggle</a:t>
            </a:r>
          </a:p>
        </p:txBody>
      </p:sp>
    </p:spTree>
    <p:extLst>
      <p:ext uri="{BB962C8B-B14F-4D97-AF65-F5344CB8AC3E}">
        <p14:creationId xmlns:p14="http://schemas.microsoft.com/office/powerpoint/2010/main" val="367897583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6042E6-B182-A5BD-238D-B6FC0DB6F1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200" b="1" dirty="0"/>
              <a:t>Data &amp; Problem Formulation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F82100B-D688-B156-30E4-678E706EA14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9000" y="2222500"/>
            <a:ext cx="5715000" cy="3316527"/>
          </a:xfrm>
          <a:prstGeom prst="rect">
            <a:avLst/>
          </a:prstGeom>
        </p:spPr>
      </p:pic>
      <p:sp>
        <p:nvSpPr>
          <p:cNvPr id="120" name="Body Left"/>
          <p:cNvSpPr/>
          <p:nvPr/>
        </p:nvSpPr>
        <p:spPr>
          <a:xfrm>
            <a:off x="635000" y="2032000"/>
            <a:ext cx="5080000" cy="4191000"/>
          </a:xfrm>
          <a:prstGeom prst="rect">
            <a:avLst/>
          </a:prstGeom>
          <a:noFill/>
          <a:ln>
            <a:noFill/>
          </a:ln>
        </p:spPr>
        <p:txBody>
          <a:bodyPr anchor="t"/>
          <a:lstStyle/>
          <a:p>
            <a:pPr marL="457200" indent="-457200">
              <a:spcBef>
                <a:spcPts val="800"/>
              </a:spcBef>
              <a:buFont typeface="Arial"/>
              <a:buChar char="•"/>
            </a:pPr>
            <a:r>
              <a:rPr lang="en-US" sz="1600" b="1" dirty="0">
                <a:solidFill>
                  <a:srgbClr val="1F2933"/>
                </a:solidFill>
              </a:rPr>
              <a:t>Self-collected dataset:</a:t>
            </a:r>
            <a:r>
              <a:rPr lang="en-US" sz="1600" dirty="0">
                <a:solidFill>
                  <a:srgbClr val="1F2933"/>
                </a:solidFill>
              </a:rPr>
              <a:t> 22,420 samples over 2 sessions (≈12.3 min, 7 segments, ~30 Hz), recorded by a built-in CSV mode of the teleop node</a:t>
            </a:r>
          </a:p>
          <a:p>
            <a:pPr marL="457200" indent="-457200">
              <a:spcBef>
                <a:spcPts val="800"/>
              </a:spcBef>
              <a:buFont typeface="Arial"/>
              <a:buChar char="•"/>
            </a:pPr>
            <a:r>
              <a:rPr lang="en-US" sz="1600" dirty="0">
                <a:solidFill>
                  <a:srgbClr val="1F2933"/>
                </a:solidFill>
              </a:rPr>
              <a:t>Session 1: slow, smooth motion; session 2: deliberately mixed speeds, sweeps, holds, sharp turns</a:t>
            </a:r>
          </a:p>
          <a:p>
            <a:pPr marL="457200" indent="-457200">
              <a:spcBef>
                <a:spcPts val="800"/>
              </a:spcBef>
              <a:buFont typeface="Arial"/>
              <a:buChar char="•"/>
            </a:pPr>
            <a:r>
              <a:rPr lang="en-US" sz="1600" b="1" dirty="0">
                <a:solidFill>
                  <a:srgbClr val="31708E"/>
                </a:solidFill>
              </a:rPr>
              <a:t>Self-supervised displacement prediction:</a:t>
            </a:r>
            <a:r>
              <a:rPr lang="en-US" sz="1600" dirty="0">
                <a:solidFill>
                  <a:srgbClr val="1F2933"/>
                </a:solidFill>
              </a:rPr>
              <a:t> from a window of L = 15 past positions, predict the displacement to the frame H = 3 ahead (≈98 ms)</a:t>
            </a:r>
          </a:p>
          <a:p>
            <a:pPr marL="457200" indent="-457200">
              <a:spcBef>
                <a:spcPts val="800"/>
              </a:spcBef>
              <a:buFont typeface="Arial"/>
              <a:buChar char="•"/>
            </a:pPr>
            <a:r>
              <a:rPr lang="en-US" sz="1600" dirty="0">
                <a:solidFill>
                  <a:srgbClr val="1F2933"/>
                </a:solidFill>
              </a:rPr>
              <a:t>Translation-invariant: a sweep produces identical training pairs anywhere in the workspace</a:t>
            </a:r>
          </a:p>
          <a:p>
            <a:pPr marL="457200" indent="-457200">
              <a:spcBef>
                <a:spcPts val="800"/>
              </a:spcBef>
              <a:buFont typeface="Arial"/>
              <a:buChar char="•"/>
            </a:pPr>
            <a:r>
              <a:rPr lang="en-US" sz="1600" b="1" dirty="0">
                <a:solidFill>
                  <a:srgbClr val="1F2933"/>
                </a:solidFill>
              </a:rPr>
              <a:t>Model:</a:t>
            </a:r>
            <a:r>
              <a:rPr lang="en-US" sz="1600" dirty="0">
                <a:solidFill>
                  <a:srgbClr val="1F2933"/>
                </a:solidFill>
              </a:rPr>
              <a:t> single-layer LSTM, 32 hidden units, ≈4.7k parameters — small enough for a 30 Hz control loop</a:t>
            </a:r>
          </a:p>
          <a:p>
            <a:pPr marL="457200" indent="-457200">
              <a:spcBef>
                <a:spcPts val="800"/>
              </a:spcBef>
              <a:buFont typeface="Arial"/>
              <a:buChar char="•"/>
            </a:pPr>
            <a:r>
              <a:rPr lang="en-US" sz="1600" dirty="0">
                <a:solidFill>
                  <a:srgbClr val="1F2933"/>
                </a:solidFill>
              </a:rPr>
              <a:t>Leakage-safe chronological 70/15/15 split per segment; no window crosses a boundary</a:t>
            </a:r>
          </a:p>
        </p:txBody>
      </p:sp>
      <p:sp>
        <p:nvSpPr>
          <p:cNvPr id="121" name="Caption"/>
          <p:cNvSpPr/>
          <p:nvPr/>
        </p:nvSpPr>
        <p:spPr>
          <a:xfrm>
            <a:off x="5969000" y="5651500"/>
            <a:ext cx="5715000" cy="508000"/>
          </a:xfrm>
          <a:prstGeom prst="rect">
            <a:avLst/>
          </a:prstGeom>
          <a:noFill/>
          <a:ln>
            <a:noFill/>
          </a:ln>
        </p:spPr>
        <p:txBody>
          <a:bodyPr anchor="t"/>
          <a:lstStyle/>
          <a:p>
            <a:pPr algn="ctr"/>
            <a:r>
              <a:rPr lang="en-US" sz="1400" i="1" dirty="0">
                <a:solidFill>
                  <a:srgbClr val="52606D"/>
                </a:solidFill>
              </a:rPr>
              <a:t>Longest recorded segment (6,931 frames): raw signal and EMA node output, x/y/z</a:t>
            </a:r>
          </a:p>
        </p:txBody>
      </p:sp>
    </p:spTree>
    <p:extLst>
      <p:ext uri="{BB962C8B-B14F-4D97-AF65-F5344CB8AC3E}">
        <p14:creationId xmlns:p14="http://schemas.microsoft.com/office/powerpoint/2010/main" val="367827570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13BD74-2006-1671-E1E7-C334EFA769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200" b="1" dirty="0"/>
              <a:t>A Negative Result and Its Fix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942BB982-A81E-4F19-AB24-F2EFCB2672D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00846445"/>
              </p:ext>
            </p:extLst>
          </p:nvPr>
        </p:nvGraphicFramePr>
        <p:xfrm>
          <a:off x="1651000" y="4000500"/>
          <a:ext cx="8890000" cy="139700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22500">
                  <a:extLst>
                    <a:ext uri="{9D8B030D-6E8A-4147-A177-3AD203B41FA5}">
                      <a16:colId xmlns:a16="http://schemas.microsoft.com/office/drawing/2014/main" val="4003538636"/>
                    </a:ext>
                  </a:extLst>
                </a:gridCol>
                <a:gridCol w="2222500">
                  <a:extLst>
                    <a:ext uri="{9D8B030D-6E8A-4147-A177-3AD203B41FA5}">
                      <a16:colId xmlns:a16="http://schemas.microsoft.com/office/drawing/2014/main" val="2478459204"/>
                    </a:ext>
                  </a:extLst>
                </a:gridCol>
                <a:gridCol w="2222500">
                  <a:extLst>
                    <a:ext uri="{9D8B030D-6E8A-4147-A177-3AD203B41FA5}">
                      <a16:colId xmlns:a16="http://schemas.microsoft.com/office/drawing/2014/main" val="1383419881"/>
                    </a:ext>
                  </a:extLst>
                </a:gridCol>
                <a:gridCol w="2222500">
                  <a:extLst>
                    <a:ext uri="{9D8B030D-6E8A-4147-A177-3AD203B41FA5}">
                      <a16:colId xmlns:a16="http://schemas.microsoft.com/office/drawing/2014/main" val="211067034"/>
                    </a:ext>
                  </a:extLst>
                </a:gridCol>
              </a:tblGrid>
              <a:tr h="465667">
                <a:tc>
                  <a:txBody>
                    <a:bodyPr/>
                    <a:lstStyle/>
                    <a:p>
                      <a:pPr algn="l"/>
                      <a:r>
                        <a:rPr lang="en-ID" sz="1400" b="1">
                          <a:solidFill>
                            <a:srgbClr val="FFFFFF"/>
                          </a:solidFill>
                        </a:rPr>
                        <a:t>Formulation</a:t>
                      </a:r>
                    </a:p>
                  </a:txBody>
                  <a:tcPr anchor="ctr">
                    <a:solidFill>
                      <a:srgbClr val="31708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ID" sz="1400" b="1">
                          <a:solidFill>
                            <a:srgbClr val="FFFFFF"/>
                          </a:solidFill>
                        </a:rPr>
                        <a:t>LSTM MAE</a:t>
                      </a:r>
                    </a:p>
                  </a:txBody>
                  <a:tcPr anchor="ctr">
                    <a:solidFill>
                      <a:srgbClr val="31708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ID" sz="1400" b="1">
                          <a:solidFill>
                            <a:srgbClr val="FFFFFF"/>
                          </a:solidFill>
                        </a:rPr>
                        <a:t>Persistence MAE</a:t>
                      </a:r>
                    </a:p>
                  </a:txBody>
                  <a:tcPr anchor="ctr">
                    <a:solidFill>
                      <a:srgbClr val="31708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ID" sz="1400" b="1">
                          <a:solidFill>
                            <a:srgbClr val="FFFFFF"/>
                          </a:solidFill>
                        </a:rPr>
                        <a:t>EMA MAE</a:t>
                      </a:r>
                    </a:p>
                  </a:txBody>
                  <a:tcPr anchor="ctr">
                    <a:solidFill>
                      <a:srgbClr val="31708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02385496"/>
                  </a:ext>
                </a:extLst>
              </a:tr>
              <a:tr h="465667">
                <a:tc>
                  <a:txBody>
                    <a:bodyPr/>
                    <a:lstStyle/>
                    <a:p>
                      <a:pPr algn="l"/>
                      <a:r>
                        <a:rPr lang="en-ID" sz="1400"/>
                        <a:t>Absolute position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en-ID" sz="1400"/>
                        <a:t>10.56 mm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en-ID" sz="1400"/>
                        <a:t>0.84 mm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en-ID" sz="1400"/>
                        <a:t>2.07 mm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63878806"/>
                  </a:ext>
                </a:extLst>
              </a:tr>
              <a:tr h="465667">
                <a:tc>
                  <a:txBody>
                    <a:bodyPr/>
                    <a:lstStyle/>
                    <a:p>
                      <a:pPr algn="l"/>
                      <a:r>
                        <a:rPr lang="en-ID" sz="1400" b="0"/>
                        <a:t>Displacement (ours)</a:t>
                      </a:r>
                    </a:p>
                  </a:txBody>
                  <a:tcPr anchor="ctr">
                    <a:solidFill>
                      <a:srgbClr val="E4EDE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ID" sz="1400" b="1"/>
                        <a:t>0.58 mm</a:t>
                      </a:r>
                    </a:p>
                  </a:txBody>
                  <a:tcPr anchor="ctr">
                    <a:solidFill>
                      <a:srgbClr val="E4EDE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ID" sz="1400" b="0"/>
                        <a:t>0.84 mm</a:t>
                      </a:r>
                    </a:p>
                  </a:txBody>
                  <a:tcPr anchor="ctr">
                    <a:solidFill>
                      <a:srgbClr val="E4EDE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ID" sz="1400" b="0"/>
                        <a:t>2.07 mm</a:t>
                      </a:r>
                    </a:p>
                  </a:txBody>
                  <a:tcPr anchor="ctr">
                    <a:solidFill>
                      <a:srgbClr val="E4ED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61040560"/>
                  </a:ext>
                </a:extLst>
              </a:tr>
            </a:tbl>
          </a:graphicData>
        </a:graphic>
      </p:graphicFrame>
      <p:sp>
        <p:nvSpPr>
          <p:cNvPr id="130" name="Body"/>
          <p:cNvSpPr/>
          <p:nvPr/>
        </p:nvSpPr>
        <p:spPr>
          <a:xfrm>
            <a:off x="635000" y="1905000"/>
            <a:ext cx="10922000" cy="2032000"/>
          </a:xfrm>
          <a:prstGeom prst="rect">
            <a:avLst/>
          </a:prstGeom>
          <a:noFill/>
          <a:ln>
            <a:noFill/>
          </a:ln>
        </p:spPr>
        <p:txBody>
          <a:bodyPr anchor="t"/>
          <a:lstStyle/>
          <a:p>
            <a:pPr marL="457200" indent="-457200">
              <a:spcBef>
                <a:spcPts val="800"/>
              </a:spcBef>
              <a:buFont typeface="Arial"/>
              <a:buChar char="•"/>
            </a:pPr>
            <a:r>
              <a:rPr lang="en-US" sz="1600" b="1" dirty="0">
                <a:solidFill>
                  <a:srgbClr val="C26D3F"/>
                </a:solidFill>
              </a:rPr>
              <a:t>Failure:</a:t>
            </a:r>
            <a:r>
              <a:rPr lang="en-US" sz="1600" dirty="0">
                <a:solidFill>
                  <a:srgbClr val="1F2933"/>
                </a:solidFill>
              </a:rPr>
              <a:t> regressing the </a:t>
            </a:r>
            <a:r>
              <a:rPr lang="en-US" sz="1600" i="1" dirty="0">
                <a:solidFill>
                  <a:srgbClr val="1F2933"/>
                </a:solidFill>
              </a:rPr>
              <a:t>absolute</a:t>
            </a:r>
            <a:r>
              <a:rPr lang="en-US" sz="1600" dirty="0">
                <a:solidFill>
                  <a:srgbClr val="1F2933"/>
                </a:solidFill>
              </a:rPr>
              <a:t> future position lost to a trivial copy-last-frame baseline by 12× (10.56 mm vs 0.84 mm)</a:t>
            </a:r>
          </a:p>
          <a:p>
            <a:pPr marL="457200" indent="-457200">
              <a:spcBef>
                <a:spcPts val="800"/>
              </a:spcBef>
              <a:buFont typeface="Arial"/>
              <a:buChar char="•"/>
            </a:pPr>
            <a:r>
              <a:rPr lang="en-US" sz="1600" b="1" dirty="0">
                <a:solidFill>
                  <a:srgbClr val="1F2933"/>
                </a:solidFill>
              </a:rPr>
              <a:t>Diagnosis — distribution shift:</a:t>
            </a:r>
            <a:r>
              <a:rPr lang="en-US" sz="1600" dirty="0">
                <a:solidFill>
                  <a:srgbClr val="1F2933"/>
                </a:solidFill>
              </a:rPr>
              <a:t> under the chronological split the operator had drifted to a new workspace region; absolute regression interpolates but cannot extrapolate. Shuffling the split would only have hidden this behind data leakage</a:t>
            </a:r>
          </a:p>
          <a:p>
            <a:pPr marL="457200" indent="-457200">
              <a:spcBef>
                <a:spcPts val="800"/>
              </a:spcBef>
              <a:buFont typeface="Arial"/>
              <a:buChar char="•"/>
            </a:pPr>
            <a:r>
              <a:rPr lang="en-US" sz="1600" b="1" dirty="0">
                <a:solidFill>
                  <a:srgbClr val="5B8266"/>
                </a:solidFill>
              </a:rPr>
              <a:t>Fix:</a:t>
            </a:r>
            <a:r>
              <a:rPr lang="en-US" sz="1600" dirty="0">
                <a:solidFill>
                  <a:srgbClr val="1F2933"/>
                </a:solidFill>
              </a:rPr>
              <a:t> predict translation-invariant </a:t>
            </a:r>
            <a:r>
              <a:rPr lang="en-US" sz="1600" i="1" dirty="0">
                <a:solidFill>
                  <a:srgbClr val="1F2933"/>
                </a:solidFill>
              </a:rPr>
              <a:t>displacements</a:t>
            </a:r>
            <a:r>
              <a:rPr lang="en-US" sz="1600" dirty="0">
                <a:solidFill>
                  <a:srgbClr val="1F2933"/>
                </a:solidFill>
              </a:rPr>
              <a:t> — the same network and training then beat both baselines (table below, session 1, H = 1)</a:t>
            </a:r>
          </a:p>
        </p:txBody>
      </p:sp>
    </p:spTree>
    <p:extLst>
      <p:ext uri="{BB962C8B-B14F-4D97-AF65-F5344CB8AC3E}">
        <p14:creationId xmlns:p14="http://schemas.microsoft.com/office/powerpoint/2010/main" val="290142920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AF6602-AF55-6D04-A0B1-D64A28E04A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200" b="1" dirty="0"/>
              <a:t>Results: 98 ms Ahead, 68% Less Error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576EA5B3-0209-4FA0-A60A-185B4B88A54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18709873"/>
              </p:ext>
            </p:extLst>
          </p:nvPr>
        </p:nvGraphicFramePr>
        <p:xfrm>
          <a:off x="6604000" y="2159000"/>
          <a:ext cx="4953000" cy="1778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000">
                  <a:extLst>
                    <a:ext uri="{9D8B030D-6E8A-4147-A177-3AD203B41FA5}">
                      <a16:colId xmlns:a16="http://schemas.microsoft.com/office/drawing/2014/main" val="350176745"/>
                    </a:ext>
                  </a:extLst>
                </a:gridCol>
                <a:gridCol w="1651000">
                  <a:extLst>
                    <a:ext uri="{9D8B030D-6E8A-4147-A177-3AD203B41FA5}">
                      <a16:colId xmlns:a16="http://schemas.microsoft.com/office/drawing/2014/main" val="822998407"/>
                    </a:ext>
                  </a:extLst>
                </a:gridCol>
                <a:gridCol w="1651000">
                  <a:extLst>
                    <a:ext uri="{9D8B030D-6E8A-4147-A177-3AD203B41FA5}">
                      <a16:colId xmlns:a16="http://schemas.microsoft.com/office/drawing/2014/main" val="3386099176"/>
                    </a:ext>
                  </a:extLst>
                </a:gridCol>
              </a:tblGrid>
              <a:tr h="444500">
                <a:tc>
                  <a:txBody>
                    <a:bodyPr/>
                    <a:lstStyle/>
                    <a:p>
                      <a:pPr algn="l"/>
                      <a:r>
                        <a:rPr lang="en-ID" sz="1400" b="1">
                          <a:solidFill>
                            <a:srgbClr val="FFFFFF"/>
                          </a:solidFill>
                        </a:rPr>
                        <a:t>Method</a:t>
                      </a:r>
                    </a:p>
                  </a:txBody>
                  <a:tcPr anchor="ctr">
                    <a:solidFill>
                      <a:srgbClr val="31708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ID" sz="1400" b="1">
                          <a:solidFill>
                            <a:srgbClr val="FFFFFF"/>
                          </a:solidFill>
                        </a:rPr>
                        <a:t>MAE [mm]</a:t>
                      </a:r>
                    </a:p>
                  </a:txBody>
                  <a:tcPr anchor="ctr">
                    <a:solidFill>
                      <a:srgbClr val="31708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ID" sz="1400" b="1">
                          <a:solidFill>
                            <a:srgbClr val="FFFFFF"/>
                          </a:solidFill>
                        </a:rPr>
                        <a:t>RMSE [mm]</a:t>
                      </a:r>
                    </a:p>
                  </a:txBody>
                  <a:tcPr anchor="ctr">
                    <a:solidFill>
                      <a:srgbClr val="31708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40376233"/>
                  </a:ext>
                </a:extLst>
              </a:tr>
              <a:tr h="444500">
                <a:tc>
                  <a:txBody>
                    <a:bodyPr/>
                    <a:lstStyle/>
                    <a:p>
                      <a:pPr algn="l"/>
                      <a:r>
                        <a:rPr lang="en-ID" sz="1400" b="1"/>
                        <a:t>LSTM (ours)</a:t>
                      </a:r>
                    </a:p>
                  </a:txBody>
                  <a:tcPr anchor="ctr">
                    <a:solidFill>
                      <a:srgbClr val="E4EDE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ID" sz="1400" b="1"/>
                        <a:t>2.32</a:t>
                      </a:r>
                    </a:p>
                  </a:txBody>
                  <a:tcPr anchor="ctr">
                    <a:solidFill>
                      <a:srgbClr val="E4EDE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ID" sz="1400" b="1"/>
                        <a:t>5.68</a:t>
                      </a:r>
                    </a:p>
                  </a:txBody>
                  <a:tcPr anchor="ctr">
                    <a:solidFill>
                      <a:srgbClr val="E4ED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0701096"/>
                  </a:ext>
                </a:extLst>
              </a:tr>
              <a:tr h="444500">
                <a:tc>
                  <a:txBody>
                    <a:bodyPr/>
                    <a:lstStyle/>
                    <a:p>
                      <a:pPr algn="l"/>
                      <a:r>
                        <a:rPr lang="en-ID" sz="1400"/>
                        <a:t>Persistence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en-ID" sz="1400"/>
                        <a:t>4.36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en-ID" sz="1400"/>
                        <a:t>10.27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6284464"/>
                  </a:ext>
                </a:extLst>
              </a:tr>
              <a:tr h="444500">
                <a:tc>
                  <a:txBody>
                    <a:bodyPr/>
                    <a:lstStyle/>
                    <a:p>
                      <a:pPr algn="l"/>
                      <a:r>
                        <a:rPr lang="en-ID" sz="1400"/>
                        <a:t>EMA (deployed)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en-ID" sz="1400"/>
                        <a:t>7.20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en-ID" sz="1400"/>
                        <a:t>16.75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86678457"/>
                  </a:ext>
                </a:extLst>
              </a:tr>
            </a:tbl>
          </a:graphicData>
        </a:graphic>
      </p:graphicFrame>
      <p:pic>
        <p:nvPicPr>
          <p:cNvPr id="5" name="Picture 4">
            <a:extLst>
              <a:ext uri="{FF2B5EF4-FFF2-40B4-BE49-F238E27FC236}">
                <a16:creationId xmlns:a16="http://schemas.microsoft.com/office/drawing/2014/main" id="{E41A531E-B1FE-291E-6CD1-02BD27E17C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000" y="2159000"/>
            <a:ext cx="5588000" cy="2758633"/>
          </a:xfrm>
          <a:prstGeom prst="rect">
            <a:avLst/>
          </a:prstGeom>
        </p:spPr>
      </p:pic>
      <p:sp>
        <p:nvSpPr>
          <p:cNvPr id="140" name="Caption"/>
          <p:cNvSpPr/>
          <p:nvPr/>
        </p:nvSpPr>
        <p:spPr>
          <a:xfrm>
            <a:off x="635000" y="5016500"/>
            <a:ext cx="5588000" cy="762000"/>
          </a:xfrm>
          <a:prstGeom prst="rect">
            <a:avLst/>
          </a:prstGeom>
          <a:noFill/>
          <a:ln>
            <a:noFill/>
          </a:ln>
        </p:spPr>
        <p:txBody>
          <a:bodyPr anchor="t"/>
          <a:lstStyle/>
          <a:p>
            <a:pPr algn="ctr"/>
            <a:r>
              <a:rPr lang="en-US" sz="1400" i="1" dirty="0">
                <a:solidFill>
                  <a:srgbClr val="52606D"/>
                </a:solidFill>
              </a:rPr>
              <a:t>Validation loss bottoms out near epoch 20; best-validation checkpointing acts as early stopping</a:t>
            </a:r>
          </a:p>
        </p:txBody>
      </p:sp>
      <p:sp>
        <p:nvSpPr>
          <p:cNvPr id="141" name="Takeaways"/>
          <p:cNvSpPr/>
          <p:nvPr/>
        </p:nvSpPr>
        <p:spPr>
          <a:xfrm>
            <a:off x="6604000" y="4127500"/>
            <a:ext cx="4953000" cy="2159000"/>
          </a:xfrm>
          <a:prstGeom prst="rect">
            <a:avLst/>
          </a:prstGeom>
          <a:noFill/>
          <a:ln>
            <a:noFill/>
          </a:ln>
        </p:spPr>
        <p:txBody>
          <a:bodyPr anchor="t"/>
          <a:lstStyle/>
          <a:p>
            <a:pPr marL="457200" indent="-457200">
              <a:spcBef>
                <a:spcPts val="700"/>
              </a:spcBef>
              <a:buFont typeface="Arial"/>
              <a:buChar char="•"/>
            </a:pPr>
            <a:r>
              <a:rPr lang="en-US" sz="1500" b="1" dirty="0">
                <a:solidFill>
                  <a:srgbClr val="5B8266"/>
                </a:solidFill>
              </a:rPr>
              <a:t>47% better than persistence, 68% better than the deployed EMA</a:t>
            </a:r>
          </a:p>
          <a:p>
            <a:pPr marL="457200" indent="-457200">
              <a:spcBef>
                <a:spcPts val="700"/>
              </a:spcBef>
              <a:buFont typeface="Arial"/>
              <a:buChar char="•"/>
            </a:pPr>
            <a:r>
              <a:rPr lang="en-US" sz="1500" dirty="0">
                <a:solidFill>
                  <a:srgbClr val="1F2933"/>
                </a:solidFill>
              </a:rPr>
              <a:t>RMSE gap is 2.9× vs EMA — biggest wins during fast motion, where lag hurts most</a:t>
            </a:r>
          </a:p>
          <a:p>
            <a:pPr marL="457200" indent="-457200">
              <a:spcBef>
                <a:spcPts val="700"/>
              </a:spcBef>
              <a:buFont typeface="Arial"/>
              <a:buChar char="•"/>
            </a:pPr>
            <a:r>
              <a:rPr lang="en-US" sz="1500" dirty="0">
                <a:solidFill>
                  <a:srgbClr val="1F2933"/>
                </a:solidFill>
              </a:rPr>
              <a:t>5-fold blocked CV: 2.28 ± 0.45 mm MAE — beats both baselines in 5/5 folds on both metrics</a:t>
            </a:r>
          </a:p>
        </p:txBody>
      </p:sp>
    </p:spTree>
    <p:extLst>
      <p:ext uri="{BB962C8B-B14F-4D97-AF65-F5344CB8AC3E}">
        <p14:creationId xmlns:p14="http://schemas.microsoft.com/office/powerpoint/2010/main" val="349262330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59B01A-261E-7982-5F9A-C936EDA79B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200" b="1" dirty="0"/>
              <a:t>Qualitative Tracking: EMA Lags, LSTM Leads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5549538-3395-3185-788D-47126FC7109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8000" y="2032000"/>
            <a:ext cx="5461000" cy="3169125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77720038-E181-7CA8-61F0-6C97462993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23000" y="2032000"/>
            <a:ext cx="5461000" cy="3190593"/>
          </a:xfrm>
          <a:prstGeom prst="rect">
            <a:avLst/>
          </a:prstGeom>
        </p:spPr>
      </p:pic>
      <p:sp>
        <p:nvSpPr>
          <p:cNvPr id="150" name="Caption 150"/>
          <p:cNvSpPr/>
          <p:nvPr/>
        </p:nvSpPr>
        <p:spPr>
          <a:xfrm>
            <a:off x="508000" y="5334000"/>
            <a:ext cx="5461000" cy="838200"/>
          </a:xfrm>
          <a:prstGeom prst="rect">
            <a:avLst/>
          </a:prstGeom>
          <a:noFill/>
          <a:ln>
            <a:noFill/>
          </a:ln>
        </p:spPr>
        <p:txBody>
          <a:bodyPr anchor="t"/>
          <a:lstStyle/>
          <a:p>
            <a:pPr algn="ctr"/>
            <a:r>
              <a:rPr lang="en-US" sz="1400" i="1" dirty="0">
                <a:solidFill>
                  <a:srgbClr val="52606D"/>
                </a:solidFill>
              </a:rPr>
              <a:t>Full test piece: raw target, EMA, and LSTM prediction overlap at this scale — no gross errors anywhere</a:t>
            </a:r>
          </a:p>
        </p:txBody>
      </p:sp>
      <p:sp>
        <p:nvSpPr>
          <p:cNvPr id="151" name="Caption 151"/>
          <p:cNvSpPr/>
          <p:nvPr/>
        </p:nvSpPr>
        <p:spPr>
          <a:xfrm>
            <a:off x="6223000" y="5334000"/>
            <a:ext cx="5461000" cy="838200"/>
          </a:xfrm>
          <a:prstGeom prst="rect">
            <a:avLst/>
          </a:prstGeom>
          <a:noFill/>
          <a:ln>
            <a:noFill/>
          </a:ln>
        </p:spPr>
        <p:txBody>
          <a:bodyPr anchor="t"/>
          <a:lstStyle/>
          <a:p>
            <a:pPr algn="ctr"/>
            <a:r>
              <a:rPr lang="en-US" sz="1400" i="1" dirty="0">
                <a:solidFill>
                  <a:srgbClr val="52606D"/>
                </a:solidFill>
              </a:rPr>
              <a:t>Busiest 3 s: the EMA (orange) visibly trails the raw trajectory; the LSTM (green) tracks and slightly leads it</a:t>
            </a:r>
          </a:p>
        </p:txBody>
      </p:sp>
    </p:spTree>
    <p:extLst>
      <p:ext uri="{BB962C8B-B14F-4D97-AF65-F5344CB8AC3E}">
        <p14:creationId xmlns:p14="http://schemas.microsoft.com/office/powerpoint/2010/main" val="353654600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E45EC-AB2B-3601-183D-DADDE33A7C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200" b="1" dirty="0"/>
              <a:t>Deployment &amp; Honest Conclusion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4A09B1-F105-5C17-2690-E1B7C00971F3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31708E"/>
                </a:solidFill>
              </a:rPr>
              <a:t>On the robot</a:t>
            </a:r>
          </a:p>
          <a:p>
            <a:pPr marL="457200" indent="-457200">
              <a:spcBef>
                <a:spcPts val="700"/>
              </a:spcBef>
              <a:buFont typeface="Arial"/>
              <a:buChar char="•"/>
            </a:pPr>
            <a:r>
              <a:rPr lang="en-US" sz="1500" dirty="0"/>
              <a:t>TorchScript model runs inside the live ROS 2 node: 0.1–0.2 ms per inference vs the 33 ms frame budget</a:t>
            </a:r>
          </a:p>
          <a:p>
            <a:pPr marL="457200" indent="-457200">
              <a:spcBef>
                <a:spcPts val="700"/>
              </a:spcBef>
              <a:buFont typeface="Arial"/>
              <a:buChar char="•"/>
            </a:pPr>
            <a:r>
              <a:rPr lang="en-US" sz="1500" dirty="0"/>
              <a:t>Ring buffer of L = 15 raw positions; EMA fallback while filling or after tracking loss; predictions clamped to the workspace safety box</a:t>
            </a:r>
          </a:p>
          <a:p>
            <a:pPr marL="457200" indent="-457200">
              <a:spcBef>
                <a:spcPts val="700"/>
              </a:spcBef>
              <a:buFont typeface="Arial"/>
              <a:buChar char="•"/>
            </a:pPr>
            <a:r>
              <a:rPr lang="en-US" sz="1500" dirty="0"/>
              <a:t>Runtime LSTM/EMA keyboard toggle for live A/B comparison</a:t>
            </a:r>
          </a:p>
          <a:p>
            <a:pPr marL="457200" indent="-457200">
              <a:spcBef>
                <a:spcPts val="700"/>
              </a:spcBef>
              <a:buFont typeface="Arial"/>
              <a:buChar char="•"/>
            </a:pPr>
            <a:r>
              <a:rPr lang="en-US" sz="1500" dirty="0"/>
              <a:t>Replay verification: the deployed code path reproduces the offline evaluation to within 0.01 mm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C55F79C-5322-E282-0CA3-9590CE595C21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31708E"/>
                </a:solidFill>
              </a:rPr>
              <a:t>What it means</a:t>
            </a:r>
          </a:p>
          <a:p>
            <a:pPr marL="457200" indent="-457200">
              <a:spcBef>
                <a:spcPts val="700"/>
              </a:spcBef>
              <a:buFont typeface="Arial"/>
              <a:buChar char="•"/>
            </a:pPr>
            <a:r>
              <a:rPr lang="en-US" sz="1500" dirty="0"/>
              <a:t>Switching LSTM/EMA on the real robot feels the same: the system is actuator-limited, not perception-limited — controller and joint limits dominate the latency chain</a:t>
            </a:r>
          </a:p>
          <a:p>
            <a:pPr marL="457200" indent="-457200">
              <a:spcBef>
                <a:spcPts val="700"/>
              </a:spcBef>
              <a:buFont typeface="Arial"/>
              <a:buChar char="•"/>
            </a:pPr>
            <a:r>
              <a:rPr lang="en-US" sz="1500" dirty="0"/>
              <a:t>The 68% reduction in target error is real; exploiting it needs higher control bandwidth (faster arm, stiffer controller)</a:t>
            </a:r>
          </a:p>
          <a:p>
            <a:pPr marL="457200" indent="-457200">
              <a:spcBef>
                <a:spcPts val="700"/>
              </a:spcBef>
              <a:buFont typeface="Arial"/>
              <a:buChar char="•"/>
            </a:pPr>
            <a:r>
              <a:rPr lang="en-US" sz="1500" dirty="0"/>
              <a:t>Future work: constant-velocity Kalman baseline, multi-user data, quantitative end-to-end tracking-error comparison</a:t>
            </a:r>
          </a:p>
        </p:txBody>
      </p:sp>
    </p:spTree>
    <p:extLst>
      <p:ext uri="{BB962C8B-B14F-4D97-AF65-F5344CB8AC3E}">
        <p14:creationId xmlns:p14="http://schemas.microsoft.com/office/powerpoint/2010/main" val="61668484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 [1781114951405]">
  <a:themeElements>
    <a:clrScheme name="Office">
      <a:dk1>
        <a:srgbClr val="1F2933"/>
      </a:dk1>
      <a:lt1>
        <a:srgbClr val="FBFAF7"/>
      </a:lt1>
      <a:dk2>
        <a:srgbClr val="2F4858"/>
      </a:dk2>
      <a:lt2>
        <a:srgbClr val="EDEAE3"/>
      </a:lt2>
      <a:accent1>
        <a:srgbClr val="31708E"/>
      </a:accent1>
      <a:accent2>
        <a:srgbClr val="5B8266"/>
      </a:accent2>
      <a:accent3>
        <a:srgbClr val="C26D3F"/>
      </a:accent3>
      <a:accent4>
        <a:srgbClr val="7A6C9E"/>
      </a:accent4>
      <a:accent5>
        <a:srgbClr val="4A90A4"/>
      </a:accent5>
      <a:accent6>
        <a:srgbClr val="A3B18A"/>
      </a:accent6>
      <a:hlink>
        <a:srgbClr val="0563C1"/>
      </a:hlink>
      <a:folHlink>
        <a:srgbClr val="954F72"/>
      </a:folHlink>
    </a:clrScheme>
    <a:fontScheme name="Office">
      <a:majorFont>
        <a:latin typeface="Georgia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Segoe U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529" row="1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BF639B4E-C8FC-49CA-A161-EA6466B38928}">
  <we:reference id="wa200010001" version="1.0.0.1" store="en-US" storeType="OMEX"/>
  <we:alternateReferences>
    <we:reference id="wa200010001" version="1.0.0.1" store="wa200010001" storeType="OMEX"/>
  </we:alternateReferences>
  <we:properties>
    <we:property name="claude.fileId" value="&quot;7aeb778f-6331-4899-9083-d7aaf684aea9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25</TotalTime>
  <Words>821</Words>
  <Application>Microsoft Office PowerPoint</Application>
  <PresentationFormat>Widescreen</PresentationFormat>
  <Paragraphs>82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8</vt:i4>
      </vt:variant>
    </vt:vector>
  </HeadingPairs>
  <TitlesOfParts>
    <vt:vector size="15" baseType="lpstr">
      <vt:lpstr>Arial</vt:lpstr>
      <vt:lpstr>Calibri</vt:lpstr>
      <vt:lpstr>Calibri Light</vt:lpstr>
      <vt:lpstr>Georgia</vt:lpstr>
      <vt:lpstr>Segoe UI</vt:lpstr>
      <vt:lpstr>Office Theme</vt:lpstr>
      <vt:lpstr>Office Theme [1781114951405]</vt:lpstr>
      <vt:lpstr>Learning to Anticipate LSTM Hand-Trajectory Prediction for Latency Compensation in Vision-Based Robot Teleoperation</vt:lpstr>
      <vt:lpstr>Motivation: Smoothing Trades Jitter for Lag</vt:lpstr>
      <vt:lpstr>System Architecture: Camera to Robot</vt:lpstr>
      <vt:lpstr>Data &amp; Problem Formulation</vt:lpstr>
      <vt:lpstr>A Negative Result and Its Fix</vt:lpstr>
      <vt:lpstr>Results: 98 ms Ahead, 68% Less Error</vt:lpstr>
      <vt:lpstr>Qualitative Tracking: EMA Lags, LSTM Leads</vt:lpstr>
      <vt:lpstr>Deployment &amp; Honest Conclusion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凱文 常</dc:creator>
  <cp:lastModifiedBy>凱文 常</cp:lastModifiedBy>
  <cp:revision>4</cp:revision>
  <dcterms:created xsi:type="dcterms:W3CDTF">2026-06-10T18:09:11Z</dcterms:created>
  <dcterms:modified xsi:type="dcterms:W3CDTF">2026-06-10T18:34:39Z</dcterms:modified>
</cp:coreProperties>
</file>